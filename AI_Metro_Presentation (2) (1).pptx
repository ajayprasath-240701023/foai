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Mean nodes expanded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Dijkstra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All 380 station pairs</c:v>
                  </c:pt>
                  <c:pt idx="1">
                    <c:v>4,044 random trials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12.78</c:v>
                </c:pt>
                <c:pt idx="1">
                  <c:v>11.1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A*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All 380 station pairs</c:v>
                  </c:pt>
                  <c:pt idx="1">
                    <c:v>4,044 random trials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7.34</c:v>
                </c:pt>
                <c:pt idx="1">
                  <c:v>8.59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AI Metro: a crowd-aware route planner built on A* search for the Foundations of AI course. The network, fares and crowd levels are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traditional planners ignore crowding, availability and transfers. AI Metro combines all of them into one A* search. Objectives follow the report: weighted graph, A*, dynamic exclusion, crowd penalty, alternatives, explainability.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 works named on the cards; all are listed in the report references. The table compares four approaches. The gap: a small, transparent system that prices crowd, availability and transfers into A* while keeping the result optimal.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 scheme follows the spec: blue input and output, green data modules, yellow processing, red AI algorithm. Data flows left to right: user input, then the three data modules, dynamic cost calculation, A*, and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cost has four parts with the default values from Table 3.1. The heuristic is straight-line distance scaled by k, which makes it admissible and consistent. A* is an explicit heapq loop that records a trace. Alternatives are a simplified form of Yen edge removal.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1 shows the A* trace with f never decreasing. Scenario 2 shows crowd changing the recommendation. Then delays, closures, maintenance and preferences. All values come from the simulated sample network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Correctness: A* matched Dijkstra in all 4,424 comparisons, supporting admissibility. The saving is smaller in the random test because penalties make true remaining cost larger than the straight-line estimate. Close with limitations and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280160"/>
            <a:ext cx="4572000" cy="45720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4206240"/>
            <a:ext cx="3840480" cy="384048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7680960" y="1371600"/>
            <a:ext cx="1097280" cy="64008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371600"/>
            <a:ext cx="1188720" cy="73152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966960" y="1280160"/>
            <a:ext cx="1005840" cy="82296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0" y="2103120"/>
            <a:ext cx="274320" cy="118872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371600"/>
            <a:ext cx="274320" cy="173736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3108960"/>
            <a:ext cx="1188720" cy="18288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2011680"/>
            <a:ext cx="182880" cy="146304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863840" y="3108960"/>
            <a:ext cx="1188720" cy="36576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241280" y="2926080"/>
            <a:ext cx="822960" cy="36576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1280160"/>
            <a:ext cx="91440" cy="1645920"/>
          </a:xfrm>
          <a:prstGeom prst="line">
            <a:avLst/>
          </a:prstGeom>
          <a:noFill/>
          <a:ln w="19050">
            <a:solidFill>
              <a:srgbClr val="3B6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680960" y="1371600"/>
            <a:ext cx="1097280" cy="640080"/>
          </a:xfrm>
          <a:prstGeom prst="line">
            <a:avLst/>
          </a:prstGeom>
          <a:noFill/>
          <a:ln w="1143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680960" y="1371600"/>
            <a:ext cx="1097280" cy="64008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1371600"/>
            <a:ext cx="274320" cy="1737360"/>
          </a:xfrm>
          <a:prstGeom prst="line">
            <a:avLst/>
          </a:prstGeom>
          <a:noFill/>
          <a:ln w="1143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1371600"/>
            <a:ext cx="274320" cy="173736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3108960"/>
            <a:ext cx="1188720" cy="182880"/>
          </a:xfrm>
          <a:prstGeom prst="line">
            <a:avLst/>
          </a:prstGeom>
          <a:noFill/>
          <a:ln w="1143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3108960"/>
            <a:ext cx="1188720" cy="18288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0241280" y="2926080"/>
            <a:ext cx="822960" cy="365760"/>
          </a:xfrm>
          <a:prstGeom prst="line">
            <a:avLst/>
          </a:prstGeom>
          <a:noFill/>
          <a:ln w="1143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241280" y="2926080"/>
            <a:ext cx="822960" cy="36576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4656" y="1865376"/>
            <a:ext cx="292608" cy="29260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1936" y="1225296"/>
            <a:ext cx="292608" cy="29260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0656" y="1956816"/>
            <a:ext cx="292608" cy="292608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26496" y="1133856"/>
            <a:ext cx="292608" cy="292608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94976" y="3145536"/>
            <a:ext cx="292608" cy="29260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06256" y="2962656"/>
            <a:ext cx="292608" cy="29260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17536" y="3328416"/>
            <a:ext cx="292608" cy="292608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17936" y="2779776"/>
            <a:ext cx="292608" cy="29260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4434840"/>
            <a:ext cx="4297680" cy="914400"/>
          </a:xfrm>
          <a:prstGeom prst="roundRect">
            <a:avLst>
              <a:gd name="adj" fmla="val 25000"/>
            </a:avLst>
          </a:prstGeom>
          <a:solidFill>
            <a:srgbClr val="163A6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4617720"/>
            <a:ext cx="457200" cy="292608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4617720"/>
            <a:ext cx="457200" cy="292608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869680" y="4617720"/>
            <a:ext cx="457200" cy="292608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509760" y="4617720"/>
            <a:ext cx="457200" cy="292608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149840" y="4617720"/>
            <a:ext cx="457200" cy="292608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789920" y="4617720"/>
            <a:ext cx="457200" cy="292608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5029200"/>
            <a:ext cx="37490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9" name="Shape 37"/>
          <p:cNvSpPr/>
          <p:nvPr/>
        </p:nvSpPr>
        <p:spPr>
          <a:xfrm>
            <a:off x="11384280" y="4754880"/>
            <a:ext cx="128016" cy="128016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0" name="Shape 38"/>
          <p:cNvSpPr/>
          <p:nvPr/>
        </p:nvSpPr>
        <p:spPr>
          <a:xfrm>
            <a:off x="7863840" y="5285232"/>
            <a:ext cx="182880" cy="182880"/>
          </a:xfrm>
          <a:prstGeom prst="ellipse">
            <a:avLst/>
          </a:prstGeom>
          <a:solidFill>
            <a:srgbClr val="07152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5285232"/>
            <a:ext cx="182880" cy="182880"/>
          </a:xfrm>
          <a:prstGeom prst="ellipse">
            <a:avLst/>
          </a:prstGeom>
          <a:solidFill>
            <a:srgbClr val="07152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07040" y="5285232"/>
            <a:ext cx="182880" cy="182880"/>
          </a:xfrm>
          <a:prstGeom prst="ellipse">
            <a:avLst/>
          </a:prstGeom>
          <a:solidFill>
            <a:srgbClr val="07152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0" y="5285232"/>
            <a:ext cx="182880" cy="182880"/>
          </a:xfrm>
          <a:prstGeom prst="ellipse">
            <a:avLst/>
          </a:prstGeom>
          <a:solidFill>
            <a:srgbClr val="07152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0" y="5486400"/>
            <a:ext cx="4663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0" y="5486400"/>
            <a:ext cx="4663440" cy="0"/>
          </a:xfrm>
          <a:prstGeom prst="line">
            <a:avLst/>
          </a:prstGeom>
          <a:noFill/>
          <a:ln w="114300">
            <a:solidFill>
              <a:srgbClr val="22D3EE">
                <a:alpha val="15000"/>
              </a:srgbClr>
            </a:solidFill>
            <a:prstDash val="solid"/>
          </a:ln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1234440" y="713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 OF ARTIFICIAL INTELLIGENCE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64008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METRO</a:t>
            </a:r>
            <a:endParaRPr lang="en-US" sz="6600" dirty="0"/>
          </a:p>
        </p:txBody>
      </p:sp>
      <p:sp>
        <p:nvSpPr>
          <p:cNvPr id="49" name="Text 46"/>
          <p:cNvSpPr txBox="1"/>
          <p:nvPr/>
        </p:nvSpPr>
        <p:spPr>
          <a:xfrm>
            <a:off x="640080" y="22402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Crowd-Aware Route Planner using A* Search</a:t>
            </a:r>
            <a:endParaRPr lang="en-US" sz="22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108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Fare, time, crowd and transfers in one informed search.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640080" y="35661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metro route planner that applies A* search to a weighted station graph, adding crowd penalties, transfer costs and dynamic closures to recommend the most efficient and comfortable route.</a:t>
            </a:r>
            <a:endParaRPr lang="en-US" sz="1250" dirty="0"/>
          </a:p>
        </p:txBody>
      </p:sp>
      <p:sp>
        <p:nvSpPr>
          <p:cNvPr id="52" name="Text 49"/>
          <p:cNvSpPr txBox="1"/>
          <p:nvPr/>
        </p:nvSpPr>
        <p:spPr>
          <a:xfrm>
            <a:off x="640080" y="4754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Abirami L (240701010) and Ajay Prasath P (240701023)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53492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Science and Engineering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Rajalakshmi Engineering College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Year: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2026–2027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Abstract and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AI Metro goes beyond shortest distance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669280" cy="3657600"/>
          </a:xfrm>
          <a:prstGeom prst="rect">
            <a:avLst/>
          </a:prstGeom>
          <a:solidFill>
            <a:srgbClr val="F3F6F9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Abstract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planners optimise only distance or time. AI Metro applies A* search to a weighted metro graph. Each edge cost adds fare, time, a crowd penalty and a transfer penalty. Closed or disrupted stations are removed before the search, and an admissible heuristic keeps the route optimal. Up to two alternative routes are returned.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69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PLANNERS IGNORE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4434840"/>
            <a:ext cx="1645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526280"/>
            <a:ext cx="365760" cy="365760"/>
          </a:xfrm>
          <a:prstGeom prst="ellipse">
            <a:avLst/>
          </a:prstGeom>
          <a:solidFill>
            <a:srgbClr val="E6FAF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4614062"/>
            <a:ext cx="190195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16152" y="4434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Crowd levels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23160" y="4434840"/>
            <a:ext cx="1645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526280"/>
            <a:ext cx="365760" cy="365760"/>
          </a:xfrm>
          <a:prstGeom prst="ellipse">
            <a:avLst/>
          </a:prstGeom>
          <a:solidFill>
            <a:srgbClr val="E6FAF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382" y="4614062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53512" y="4434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Closures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60520" y="4434840"/>
            <a:ext cx="1645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51960" y="4526280"/>
            <a:ext cx="365760" cy="365760"/>
          </a:xfrm>
          <a:prstGeom prst="ellipse">
            <a:avLst/>
          </a:prstGeom>
          <a:solidFill>
            <a:srgbClr val="E6FA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742" y="4614062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90872" y="4434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55080" y="1554480"/>
            <a:ext cx="537667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58368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583680" y="223113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58368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995160" y="2194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the metro as a weighted graph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583680" y="2724912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58368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6995160" y="26883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optimal route with A* search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583680" y="3218688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58368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6995160" y="31821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 unavailable stations and connections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583680" y="3712464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58368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6995160" y="3675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crowd level as an edge-cost penalty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6583680" y="42062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583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6995160" y="41696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best and alternative routes with trip details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6583680" y="470001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658368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6995160" y="4663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A* explainable: open/closed sets, f, g, h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457200" y="5440680"/>
            <a:ext cx="11274552" cy="777240"/>
          </a:xfrm>
          <a:prstGeom prst="rect">
            <a:avLst/>
          </a:prstGeom>
          <a:solidFill>
            <a:srgbClr val="E6FAF8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31520" y="545896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“Recommend the most efficient and comfortable route between two stations, not only the shortest one.”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Algorithms, Route Planning and Crowding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E6FA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013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Shortest-Path Search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86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Dijkstra (1959): label-setting search that expands nodes by accumulated cost g(n), exploring in all directions.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1159" y="1554480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14039" y="1691640"/>
            <a:ext cx="457200" cy="457200"/>
          </a:xfrm>
          <a:prstGeom prst="ellipse">
            <a:avLst/>
          </a:prstGeom>
          <a:solidFill>
            <a:srgbClr val="E6FA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67" y="18013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62679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Heuristic Search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514039" y="2286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Hart, Nilsson and Raphael (1968): A* orders search by f = g + h and is optimal when h never over-estimates.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05118" y="1554480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87998" y="1691640"/>
            <a:ext cx="457200" cy="457200"/>
          </a:xfrm>
          <a:prstGeom prst="ellipse">
            <a:avLst/>
          </a:prstGeom>
          <a:solidFill>
            <a:srgbClr val="E6FAF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26" y="18013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36638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Transport Route Planning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387998" y="2286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Bast et al. (2016): transit adds transfers and multiple criteria. Yen (1971): K shortest loopless paths by edge removal.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79078" y="1554480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61958" y="1691640"/>
            <a:ext cx="457200" cy="457200"/>
          </a:xfrm>
          <a:prstGeom prst="ellipse">
            <a:avLst/>
          </a:prstGeom>
          <a:solidFill>
            <a:srgbClr val="E6FAF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686" y="180136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10598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Crowding and Comfort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261958" y="2286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Wardman and Whelan (2011), Kroes et al. (2013): crowding acts as an extra time penalty. Pelletier et al. (2011): smart-card load data.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1005840"/>
                <a:gridCol w="2103120"/>
                <a:gridCol w="1280160"/>
                <a:gridCol w="149047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Approach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Optimises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Crowd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Availability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Transfers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Optimal?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Breadth-first search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Number of stops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handled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Hops only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Dijkstra (time/distance)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or distance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handled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Plain A* (distance)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Distance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handled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Metro (this work)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Fare + time + crowd + transfers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Filtered dynamically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</a:tr>
            </a:tbl>
          </a:graphicData>
        </a:graphic>
      </p:graphicFrame>
      <p:sp>
        <p:nvSpPr>
          <p:cNvPr id="26" name="Shape 19"/>
          <p:cNvSpPr/>
          <p:nvPr/>
        </p:nvSpPr>
        <p:spPr>
          <a:xfrm>
            <a:off x="457200" y="5440680"/>
            <a:ext cx="11274552" cy="777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31520" y="545896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GAP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algorithms are mature, but common planners use a single cost. AI Metro feeds crowd, availability and transfer cost into an A* edge cost while staying optimal and explainable.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Passenger Input to Crowd-Aware Route Recommendation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645920" cy="2468880"/>
          </a:xfrm>
          <a:prstGeom prst="roundRect">
            <a:avLst>
              <a:gd name="adj" fmla="val 4444"/>
            </a:avLst>
          </a:prstGeom>
          <a:solidFill>
            <a:srgbClr val="112B4D"/>
          </a:solidFill>
          <a:ln w="22225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35000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13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Input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88920"/>
            <a:ext cx="1417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station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 station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Preference: Balanced, Fastest, Least crowded, Fewest transfers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04872" y="16002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12B4D"/>
          </a:solidFill>
          <a:ln w="22225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709928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1460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673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Metro Network DB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542032" y="2148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stations, 3 lines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segments, 4 interchanges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04872" y="2816352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12B4D"/>
          </a:solidFill>
          <a:ln w="22225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2926080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1460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8895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Crowd Module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542032" y="33649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/ Medium / High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station and segment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04872" y="4032504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12B4D"/>
          </a:solidFill>
          <a:ln w="22225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4142232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1460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4105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 Module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542032" y="45811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OPEN, DELAYED, CLOSED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MAINTENANCE, DISRUPTED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92624" y="224028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112B4D"/>
          </a:solidFill>
          <a:ln w="22225">
            <a:solidFill>
              <a:srgbClr val="EAB30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02352" y="2350008"/>
            <a:ext cx="292608" cy="292608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102352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68112" y="2313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Dynamic Cost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129784" y="2788920"/>
            <a:ext cx="1874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+ time + crowd + transfer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 from preference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unavailable elements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97496" y="2240280"/>
            <a:ext cx="2194560" cy="2468880"/>
          </a:xfrm>
          <a:prstGeom prst="roundRect">
            <a:avLst>
              <a:gd name="adj" fmla="val 3333"/>
            </a:avLst>
          </a:prstGeom>
          <a:solidFill>
            <a:srgbClr val="112B4D"/>
          </a:solidFill>
          <a:ln w="22225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07224" y="2350008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07224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872984" y="2313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A* Search Engine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534656" y="2788920"/>
            <a:ext cx="1965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f(n) = g(n) + h(n)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h(n) = k × d(n, goal)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/ closed sets, trace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+ alternative paths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893808" y="224028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112B4D"/>
          </a:solidFill>
          <a:ln w="22225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03536" y="235000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003536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69296" y="2313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 Output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030968" y="2788920"/>
            <a:ext cx="1600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and lines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Time, fare, crowd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2 alternatives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 flipV="1">
            <a:off x="2103120" y="2148840"/>
            <a:ext cx="301752" cy="1325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2103120" y="3364992"/>
            <a:ext cx="301752" cy="109728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103120" y="3474720"/>
            <a:ext cx="301752" cy="1106424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690872" y="2148840"/>
            <a:ext cx="301752" cy="1325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690872" y="3364992"/>
            <a:ext cx="301752" cy="109728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4690872" y="3474720"/>
            <a:ext cx="301752" cy="1106424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095744" y="3474720"/>
            <a:ext cx="3017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592056" y="3474720"/>
            <a:ext cx="3017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57200" y="539496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1520" y="5376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/ output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468880" y="53949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743200" y="5376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modules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480560" y="5394960"/>
            <a:ext cx="201168" cy="201168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754880" y="5376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92240" y="539496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766560" y="5376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algorithm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8571"/>
            </a:avLst>
          </a:prstGeom>
          <a:solidFill>
            <a:srgbClr val="112B4D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85800" y="57790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constraint: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closed, maintenance and disrupted elements are removed before A* runs, not merely penalised. DELAYED ones stay with added time.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Function, Heuristic and A*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Route Is Computed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73936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64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Edge Cost Function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88536" y="1554480"/>
            <a:ext cx="361188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1416" y="166420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7739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65776" y="1664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Heuristic and State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19872" y="1554480"/>
            <a:ext cx="361188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02752" y="166420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7393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97112" y="1664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A* and Availability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2240280"/>
            <a:ext cx="3246120" cy="502920"/>
          </a:xfrm>
          <a:prstGeom prst="rect">
            <a:avLst/>
          </a:prstGeom>
          <a:solidFill>
            <a:srgbClr val="E6FAF8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0080" y="2240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edge_cost = travel + time + crowd + transfer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324612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Default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travel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Rs 2.0 / km × w_fare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1.5 min/km + 1 min dwell (+6 if DELAYED) × w_time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crowd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0, Medium 4, High 10 × w_crowd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transfer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 × w_transfer (+4 min walk in trip time)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4"/>
          <p:cNvSpPr txBox="1"/>
          <p:nvPr/>
        </p:nvSpPr>
        <p:spPr>
          <a:xfrm>
            <a:off x="640080" y="52120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Presets (w_fare, w_time, w_crowd, w_transfer)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1, 1, 1,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Fastest 0.5, 3, 0.3, 0.5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 crowded 0.5, 0.7, 4,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Fewest transfers 0.5, 0.7, 0.7, 4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471416" y="2240280"/>
            <a:ext cx="3246120" cy="502920"/>
          </a:xfrm>
          <a:prstGeom prst="rect">
            <a:avLst/>
          </a:prstGeom>
          <a:solidFill>
            <a:srgbClr val="E6FAF8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471416" y="2240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h(n) = k × d(n, goal)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471416" y="2926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is (station, line), so transfer cost depends only on the current state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= straight-line km; k = smallest (travel + time cost) per km over usable edges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= 4.137 in the sample network (Balanced)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Admissible: every edge costs at least k × its length (triangle inequality)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Consistent: a closed state is never re-opened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is recomputed after unavailable edges are removed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302752" y="2240280"/>
            <a:ext cx="3246120" cy="502920"/>
          </a:xfrm>
          <a:prstGeom prst="rect">
            <a:avLst/>
          </a:prstGeom>
          <a:solidFill>
            <a:srgbClr val="E6FAF8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302752" y="2240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f(n) = g(n) + h(n)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02752" y="2926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set: heapq priority queue ordered by f; closed set of expanded states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loop, not a library call; logs step, g, h, f and open-set size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CLOSED, MAINTENANCE, DISRUPTED: removed before search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Alternatives: ban each route segment, re-run A*, keep routes within 1.6× best cost, show the two cheapest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Results: A* Trace and Scenarios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Simulated crowd and availability data on the 20-station sample network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77840" cy="4663440"/>
          </a:xfrm>
          <a:prstGeom prst="rect">
            <a:avLst/>
          </a:prstGeom>
          <a:solidFill>
            <a:srgbClr val="F3F6F9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Airport → Thiruvanmiyur (Balanced)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933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15.6 km · 35 min · Rs 31 · 1 transfer (Nandanam) · cost 78.70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828800"/>
                <a:gridCol w="685800"/>
                <a:gridCol w="685800"/>
                <a:gridCol w="685800"/>
                <a:gridCol w="64008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State expanded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Airport (start)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43.44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43.44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Meenambakkam (Blue)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7.02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38.70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45.72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Guindy (Blue)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21.05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32.71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53.76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Little Mount (Blue)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27.40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29.23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56.63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Airport (Blue)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14.04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43.44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57.48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Saidapet (Blue)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32.88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26.98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59.86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Nandanam (Blue)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43.55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24.91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68.46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Mylapore (Green)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61.16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16.68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77.84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Adyar (Green)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70.77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7.46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78.23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Thiruvanmiyur (Green)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78.70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78.70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57881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A* expanded 10 states; Dijkstra expanded 21 with the same cost. The 8.00 jump at step 8 is the Blue-to-Green transfer penalty.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46811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Koyambedu → Thousand Lights: crowd changes the route</a:t>
            </a:r>
            <a:endParaRPr lang="en-US" sz="12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057400"/>
          <a:ext cx="5074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640080"/>
                <a:gridCol w="548640"/>
                <a:gridCol w="640080"/>
                <a:gridCol w="6858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Condition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Crowd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Normal, best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Green + Blue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55.89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Normal, alt.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 + Blue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60.77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Heavy crowd, best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 + Blue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60.77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Heavy crowd, alt.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Green + Blue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F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81.89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446520" y="3639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crowd flips the best route (+1.1 km, +2 min).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63640" y="4114800"/>
            <a:ext cx="546811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46520" y="41879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 and preferences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457200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Ashok Nagar DELAYED: route kept (cost 60.87 vs detour 67.79). CLOSED: rerouted via Red + Blue.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Nandanam under maintenance: Koyambedu → Adyar reports “no route available”.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 crowded preset takes Green + Blue (27 min); other presets keep Red direct (13 min).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Evaluation, Conclusion and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A* matches Dijkstra while expanding fewer nodes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035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51206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0233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cost mismatches in 4,424 comparisons.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reduction: 42.5% (normal) and 22.7% (random crowd, closures, presets).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89320" y="1554480"/>
            <a:ext cx="5742432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7220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205740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cost combines fare, time, crowd and transfer penalties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Unavailable stations and connections are removed before the search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Admissible, consistent heuristic keeps the route optimal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reacts correctly to crowding, delays, closures and preferences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Limits: simulated data, uncalibrated penalties, small schematic network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11274552" cy="1188720"/>
          </a:xfrm>
          <a:prstGeom prst="rect">
            <a:avLst/>
          </a:prstGeom>
          <a:solidFill>
            <a:srgbClr val="F3F6F9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WORK (not implemented)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193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or historical passenger-load data  ·  Real fare table and timetables  ·  Penalties learned from passenger choices  ·  ML crowd prediction  ·  Full Yen K-shortest paths and multimodal trips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6108192"/>
            <a:ext cx="11274552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6108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6108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Metro</dc:title>
  <dc:subject>PptxGenJS Presentation</dc:subject>
  <dc:creator>PptxGenJS</dc:creator>
  <cp:lastModifiedBy>PptxGenJS</cp:lastModifiedBy>
  <cp:revision>1</cp:revision>
  <dcterms:created xsi:type="dcterms:W3CDTF">2026-10-12T12:35:31Z</dcterms:created>
  <dcterms:modified xsi:type="dcterms:W3CDTF">2026-10-12T12:35:31Z</dcterms:modified>
</cp:coreProperties>
</file>